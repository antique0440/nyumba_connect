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E28379-D94B-4936-8A84-E8CAB75566BD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48E0884-4FFB-4733-96B2-5128BC384B29}">
      <dgm:prSet/>
      <dgm:spPr/>
      <dgm:t>
        <a:bodyPr/>
        <a:lstStyle/>
        <a:p>
          <a:r>
            <a:rPr lang="en-GB" u="sng"/>
            <a:t>Main Functions to Solve the Problem</a:t>
          </a:r>
          <a:endParaRPr lang="en-US"/>
        </a:p>
      </dgm:t>
    </dgm:pt>
    <dgm:pt modelId="{2B3FC50E-75DC-403B-9265-0110D57804AC}" type="parTrans" cxnId="{AFC4BB02-4246-4DB6-9F06-78E74DC647D6}">
      <dgm:prSet/>
      <dgm:spPr/>
      <dgm:t>
        <a:bodyPr/>
        <a:lstStyle/>
        <a:p>
          <a:endParaRPr lang="en-US"/>
        </a:p>
      </dgm:t>
    </dgm:pt>
    <dgm:pt modelId="{2F624E6D-8F11-4781-9091-CC6122CD61E4}" type="sibTrans" cxnId="{AFC4BB02-4246-4DB6-9F06-78E74DC647D6}">
      <dgm:prSet/>
      <dgm:spPr/>
      <dgm:t>
        <a:bodyPr/>
        <a:lstStyle/>
        <a:p>
          <a:endParaRPr lang="en-US"/>
        </a:p>
      </dgm:t>
    </dgm:pt>
    <dgm:pt modelId="{BF3FEC44-80DB-4308-B8B3-ACFAF1354E21}">
      <dgm:prSet/>
      <dgm:spPr/>
      <dgm:t>
        <a:bodyPr/>
        <a:lstStyle/>
        <a:p>
          <a:r>
            <a:rPr lang="en-GB"/>
            <a:t>Mentorship Management System: This allows students to search for and connect with specific alumni mentors based on their career interests, bridging the "network gap" through formal request and acceptance workflows.</a:t>
          </a:r>
          <a:endParaRPr lang="en-US"/>
        </a:p>
      </dgm:t>
    </dgm:pt>
    <dgm:pt modelId="{7ED9D3B7-C482-4EEB-873A-2F77B9D2DFFB}" type="parTrans" cxnId="{C4C604A1-45FD-4181-A585-AA2E4120F449}">
      <dgm:prSet/>
      <dgm:spPr/>
      <dgm:t>
        <a:bodyPr/>
        <a:lstStyle/>
        <a:p>
          <a:endParaRPr lang="en-US"/>
        </a:p>
      </dgm:t>
    </dgm:pt>
    <dgm:pt modelId="{617863E8-A2FC-4EF5-ADCB-9B70E92B12AC}" type="sibTrans" cxnId="{C4C604A1-45FD-4181-A585-AA2E4120F449}">
      <dgm:prSet/>
      <dgm:spPr/>
      <dgm:t>
        <a:bodyPr/>
        <a:lstStyle/>
        <a:p>
          <a:endParaRPr lang="en-US"/>
        </a:p>
      </dgm:t>
    </dgm:pt>
    <dgm:pt modelId="{F7E88AE4-1756-4BCA-939A-64C04EEC42DB}">
      <dgm:prSet/>
      <dgm:spPr/>
      <dgm:t>
        <a:bodyPr/>
        <a:lstStyle/>
        <a:p>
          <a:r>
            <a:rPr lang="en-GB"/>
            <a:t>Integrated Messaging Platform: A secure, private communication tool that enables real-time guidance and professional dialogue between mentors and students once a connection is established.</a:t>
          </a:r>
          <a:endParaRPr lang="en-US"/>
        </a:p>
      </dgm:t>
    </dgm:pt>
    <dgm:pt modelId="{2A36F890-6A3D-4717-A81A-A714B6F436D9}" type="parTrans" cxnId="{D81A4EA2-AE6C-4FC3-A3D9-83C070D0DD1F}">
      <dgm:prSet/>
      <dgm:spPr/>
      <dgm:t>
        <a:bodyPr/>
        <a:lstStyle/>
        <a:p>
          <a:endParaRPr lang="en-US"/>
        </a:p>
      </dgm:t>
    </dgm:pt>
    <dgm:pt modelId="{9C89DCA3-8946-45B6-BC44-0BBCF613367E}" type="sibTrans" cxnId="{D81A4EA2-AE6C-4FC3-A3D9-83C070D0DD1F}">
      <dgm:prSet/>
      <dgm:spPr/>
      <dgm:t>
        <a:bodyPr/>
        <a:lstStyle/>
        <a:p>
          <a:endParaRPr lang="en-US"/>
        </a:p>
      </dgm:t>
    </dgm:pt>
    <dgm:pt modelId="{D6900382-01E2-4C28-BB88-AEACC19E6899}">
      <dgm:prSet/>
      <dgm:spPr/>
      <dgm:t>
        <a:bodyPr/>
        <a:lstStyle/>
        <a:p>
          <a:r>
            <a:rPr lang="en-GB"/>
            <a:t>Opportunity &amp; Job Board: A centralized hub where alumni can post internships and job openings specifically for Nyumba students, ensuring that users have direct access to "hidden" career paths.</a:t>
          </a:r>
          <a:endParaRPr lang="en-US"/>
        </a:p>
      </dgm:t>
    </dgm:pt>
    <dgm:pt modelId="{6F040F19-5B8F-4F29-BECA-FC338687DC82}" type="parTrans" cxnId="{CEFEE148-76EC-45C1-BFB6-3360D32E785C}">
      <dgm:prSet/>
      <dgm:spPr/>
      <dgm:t>
        <a:bodyPr/>
        <a:lstStyle/>
        <a:p>
          <a:endParaRPr lang="en-US"/>
        </a:p>
      </dgm:t>
    </dgm:pt>
    <dgm:pt modelId="{58BFA6DF-F4FB-4A38-B2CC-0B76E8FD81FE}" type="sibTrans" cxnId="{CEFEE148-76EC-45C1-BFB6-3360D32E785C}">
      <dgm:prSet/>
      <dgm:spPr/>
      <dgm:t>
        <a:bodyPr/>
        <a:lstStyle/>
        <a:p>
          <a:endParaRPr lang="en-US"/>
        </a:p>
      </dgm:t>
    </dgm:pt>
    <dgm:pt modelId="{ED67A69E-4F22-472E-AD2B-BCA0CF1A887A}">
      <dgm:prSet/>
      <dgm:spPr/>
      <dgm:t>
        <a:bodyPr/>
        <a:lstStyle/>
        <a:p>
          <a:r>
            <a:rPr lang="en-GB"/>
            <a:t>Resource &amp; CV Library: A digital repository where students can access career guides and manage their CVs, allowing for professional preparation and seamless application to posted opportunities.</a:t>
          </a:r>
          <a:endParaRPr lang="en-US"/>
        </a:p>
      </dgm:t>
    </dgm:pt>
    <dgm:pt modelId="{8B2491AA-6D43-4D10-9A50-EB19257A8AE4}" type="parTrans" cxnId="{6F7BF01B-AB6C-4B0A-85BE-F34ECCF4D596}">
      <dgm:prSet/>
      <dgm:spPr/>
      <dgm:t>
        <a:bodyPr/>
        <a:lstStyle/>
        <a:p>
          <a:endParaRPr lang="en-US"/>
        </a:p>
      </dgm:t>
    </dgm:pt>
    <dgm:pt modelId="{9A78CD9D-479B-4DB1-91ED-8014852BC2F3}" type="sibTrans" cxnId="{6F7BF01B-AB6C-4B0A-85BE-F34ECCF4D596}">
      <dgm:prSet/>
      <dgm:spPr/>
      <dgm:t>
        <a:bodyPr/>
        <a:lstStyle/>
        <a:p>
          <a:endParaRPr lang="en-US"/>
        </a:p>
      </dgm:t>
    </dgm:pt>
    <dgm:pt modelId="{EAC2525C-BE97-4E22-88F0-5D6B6FAF071A}" type="pres">
      <dgm:prSet presAssocID="{78E28379-D94B-4936-8A84-E8CAB75566BD}" presName="root" presStyleCnt="0">
        <dgm:presLayoutVars>
          <dgm:dir/>
          <dgm:resizeHandles val="exact"/>
        </dgm:presLayoutVars>
      </dgm:prSet>
      <dgm:spPr/>
    </dgm:pt>
    <dgm:pt modelId="{05B2DD4C-7748-4A8A-A6F7-C6292905282D}" type="pres">
      <dgm:prSet presAssocID="{648E0884-4FFB-4733-96B2-5128BC384B29}" presName="compNode" presStyleCnt="0"/>
      <dgm:spPr/>
    </dgm:pt>
    <dgm:pt modelId="{518CD70B-DD92-4982-9CE3-19CA13C362D8}" type="pres">
      <dgm:prSet presAssocID="{648E0884-4FFB-4733-96B2-5128BC384B2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BA39D44-27A5-44BA-AE68-F7C24FC1E423}" type="pres">
      <dgm:prSet presAssocID="{648E0884-4FFB-4733-96B2-5128BC384B29}" presName="spaceRect" presStyleCnt="0"/>
      <dgm:spPr/>
    </dgm:pt>
    <dgm:pt modelId="{626B42C0-D2DC-4F58-803B-ACFFF7F89B99}" type="pres">
      <dgm:prSet presAssocID="{648E0884-4FFB-4733-96B2-5128BC384B29}" presName="textRect" presStyleLbl="revTx" presStyleIdx="0" presStyleCnt="5">
        <dgm:presLayoutVars>
          <dgm:chMax val="1"/>
          <dgm:chPref val="1"/>
        </dgm:presLayoutVars>
      </dgm:prSet>
      <dgm:spPr/>
    </dgm:pt>
    <dgm:pt modelId="{910DAA06-738F-4A8D-A041-25EA593AF9AF}" type="pres">
      <dgm:prSet presAssocID="{2F624E6D-8F11-4781-9091-CC6122CD61E4}" presName="sibTrans" presStyleCnt="0"/>
      <dgm:spPr/>
    </dgm:pt>
    <dgm:pt modelId="{F28E3FED-DD2C-48A8-9AE0-8CB5DB04A2A9}" type="pres">
      <dgm:prSet presAssocID="{BF3FEC44-80DB-4308-B8B3-ACFAF1354E21}" presName="compNode" presStyleCnt="0"/>
      <dgm:spPr/>
    </dgm:pt>
    <dgm:pt modelId="{B31F9F89-E9BD-4381-AFF5-D36C3BF7432B}" type="pres">
      <dgm:prSet presAssocID="{BF3FEC44-80DB-4308-B8B3-ACFAF1354E2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461DD69F-26C0-48FB-AEFD-B285AFA846F2}" type="pres">
      <dgm:prSet presAssocID="{BF3FEC44-80DB-4308-B8B3-ACFAF1354E21}" presName="spaceRect" presStyleCnt="0"/>
      <dgm:spPr/>
    </dgm:pt>
    <dgm:pt modelId="{5FADEABC-3400-4901-8EF2-F4DD862A1234}" type="pres">
      <dgm:prSet presAssocID="{BF3FEC44-80DB-4308-B8B3-ACFAF1354E21}" presName="textRect" presStyleLbl="revTx" presStyleIdx="1" presStyleCnt="5">
        <dgm:presLayoutVars>
          <dgm:chMax val="1"/>
          <dgm:chPref val="1"/>
        </dgm:presLayoutVars>
      </dgm:prSet>
      <dgm:spPr/>
    </dgm:pt>
    <dgm:pt modelId="{80B26EB4-B74A-4828-9101-3AA5469D1081}" type="pres">
      <dgm:prSet presAssocID="{617863E8-A2FC-4EF5-ADCB-9B70E92B12AC}" presName="sibTrans" presStyleCnt="0"/>
      <dgm:spPr/>
    </dgm:pt>
    <dgm:pt modelId="{F5CFAFCB-F627-40AF-96B2-6CE177C6B9EB}" type="pres">
      <dgm:prSet presAssocID="{F7E88AE4-1756-4BCA-939A-64C04EEC42DB}" presName="compNode" presStyleCnt="0"/>
      <dgm:spPr/>
    </dgm:pt>
    <dgm:pt modelId="{36D34D33-82F5-4A1A-9864-4E3D5D485BFF}" type="pres">
      <dgm:prSet presAssocID="{F7E88AE4-1756-4BCA-939A-64C04EEC42D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5A939B04-7773-49B2-B364-C2D2FC88B06A}" type="pres">
      <dgm:prSet presAssocID="{F7E88AE4-1756-4BCA-939A-64C04EEC42DB}" presName="spaceRect" presStyleCnt="0"/>
      <dgm:spPr/>
    </dgm:pt>
    <dgm:pt modelId="{9C1A6C1A-EFDC-49D3-9FE3-A55113234CCD}" type="pres">
      <dgm:prSet presAssocID="{F7E88AE4-1756-4BCA-939A-64C04EEC42DB}" presName="textRect" presStyleLbl="revTx" presStyleIdx="2" presStyleCnt="5">
        <dgm:presLayoutVars>
          <dgm:chMax val="1"/>
          <dgm:chPref val="1"/>
        </dgm:presLayoutVars>
      </dgm:prSet>
      <dgm:spPr/>
    </dgm:pt>
    <dgm:pt modelId="{8D8917AF-F376-4A2E-8456-5B83814E07D5}" type="pres">
      <dgm:prSet presAssocID="{9C89DCA3-8946-45B6-BC44-0BBCF613367E}" presName="sibTrans" presStyleCnt="0"/>
      <dgm:spPr/>
    </dgm:pt>
    <dgm:pt modelId="{A9E3F417-D17E-4A83-8BB1-F72D3A47E725}" type="pres">
      <dgm:prSet presAssocID="{D6900382-01E2-4C28-BB88-AEACC19E6899}" presName="compNode" presStyleCnt="0"/>
      <dgm:spPr/>
    </dgm:pt>
    <dgm:pt modelId="{3FDBC495-DE7C-4BBE-A5AC-B0F17574FD89}" type="pres">
      <dgm:prSet presAssocID="{D6900382-01E2-4C28-BB88-AEACC19E689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B2C986B4-FC5A-4E76-B1D3-EAAD14A5C394}" type="pres">
      <dgm:prSet presAssocID="{D6900382-01E2-4C28-BB88-AEACC19E6899}" presName="spaceRect" presStyleCnt="0"/>
      <dgm:spPr/>
    </dgm:pt>
    <dgm:pt modelId="{70BEA1A9-2D3A-406B-A1F4-D7B58356B6FA}" type="pres">
      <dgm:prSet presAssocID="{D6900382-01E2-4C28-BB88-AEACC19E6899}" presName="textRect" presStyleLbl="revTx" presStyleIdx="3" presStyleCnt="5">
        <dgm:presLayoutVars>
          <dgm:chMax val="1"/>
          <dgm:chPref val="1"/>
        </dgm:presLayoutVars>
      </dgm:prSet>
      <dgm:spPr/>
    </dgm:pt>
    <dgm:pt modelId="{002A58E6-68C8-4AB8-85C8-AF43A7DB5BAB}" type="pres">
      <dgm:prSet presAssocID="{58BFA6DF-F4FB-4A38-B2CC-0B76E8FD81FE}" presName="sibTrans" presStyleCnt="0"/>
      <dgm:spPr/>
    </dgm:pt>
    <dgm:pt modelId="{7DB459D3-3930-4C11-B4E8-37BA966DD21F}" type="pres">
      <dgm:prSet presAssocID="{ED67A69E-4F22-472E-AD2B-BCA0CF1A887A}" presName="compNode" presStyleCnt="0"/>
      <dgm:spPr/>
    </dgm:pt>
    <dgm:pt modelId="{A9EF2F56-E591-4BC3-BB01-76183DF3D2FE}" type="pres">
      <dgm:prSet presAssocID="{ED67A69E-4F22-472E-AD2B-BCA0CF1A887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67A8611F-32FF-4BDE-AF22-D9732C929529}" type="pres">
      <dgm:prSet presAssocID="{ED67A69E-4F22-472E-AD2B-BCA0CF1A887A}" presName="spaceRect" presStyleCnt="0"/>
      <dgm:spPr/>
    </dgm:pt>
    <dgm:pt modelId="{57E75B4C-2F04-495C-8921-0E5EE1893DED}" type="pres">
      <dgm:prSet presAssocID="{ED67A69E-4F22-472E-AD2B-BCA0CF1A887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FC4BB02-4246-4DB6-9F06-78E74DC647D6}" srcId="{78E28379-D94B-4936-8A84-E8CAB75566BD}" destId="{648E0884-4FFB-4733-96B2-5128BC384B29}" srcOrd="0" destOrd="0" parTransId="{2B3FC50E-75DC-403B-9265-0110D57804AC}" sibTransId="{2F624E6D-8F11-4781-9091-CC6122CD61E4}"/>
    <dgm:cxn modelId="{2F27B512-FCB5-4C38-BFAF-0E9DCBA0B0F8}" type="presOf" srcId="{ED67A69E-4F22-472E-AD2B-BCA0CF1A887A}" destId="{57E75B4C-2F04-495C-8921-0E5EE1893DED}" srcOrd="0" destOrd="0" presId="urn:microsoft.com/office/officeart/2018/2/layout/IconLabelList"/>
    <dgm:cxn modelId="{6F7BF01B-AB6C-4B0A-85BE-F34ECCF4D596}" srcId="{78E28379-D94B-4936-8A84-E8CAB75566BD}" destId="{ED67A69E-4F22-472E-AD2B-BCA0CF1A887A}" srcOrd="4" destOrd="0" parTransId="{8B2491AA-6D43-4D10-9A50-EB19257A8AE4}" sibTransId="{9A78CD9D-479B-4DB1-91ED-8014852BC2F3}"/>
    <dgm:cxn modelId="{8D057C26-17E3-42D7-ACE2-D974BC6F89F8}" type="presOf" srcId="{648E0884-4FFB-4733-96B2-5128BC384B29}" destId="{626B42C0-D2DC-4F58-803B-ACFFF7F89B99}" srcOrd="0" destOrd="0" presId="urn:microsoft.com/office/officeart/2018/2/layout/IconLabelList"/>
    <dgm:cxn modelId="{E741C626-302A-42A2-8BF6-CBE3B2ED8375}" type="presOf" srcId="{F7E88AE4-1756-4BCA-939A-64C04EEC42DB}" destId="{9C1A6C1A-EFDC-49D3-9FE3-A55113234CCD}" srcOrd="0" destOrd="0" presId="urn:microsoft.com/office/officeart/2018/2/layout/IconLabelList"/>
    <dgm:cxn modelId="{167A6032-7112-487F-AE21-3A05750E25FD}" type="presOf" srcId="{BF3FEC44-80DB-4308-B8B3-ACFAF1354E21}" destId="{5FADEABC-3400-4901-8EF2-F4DD862A1234}" srcOrd="0" destOrd="0" presId="urn:microsoft.com/office/officeart/2018/2/layout/IconLabelList"/>
    <dgm:cxn modelId="{CEFEE148-76EC-45C1-BFB6-3360D32E785C}" srcId="{78E28379-D94B-4936-8A84-E8CAB75566BD}" destId="{D6900382-01E2-4C28-BB88-AEACC19E6899}" srcOrd="3" destOrd="0" parTransId="{6F040F19-5B8F-4F29-BECA-FC338687DC82}" sibTransId="{58BFA6DF-F4FB-4A38-B2CC-0B76E8FD81FE}"/>
    <dgm:cxn modelId="{C4C604A1-45FD-4181-A585-AA2E4120F449}" srcId="{78E28379-D94B-4936-8A84-E8CAB75566BD}" destId="{BF3FEC44-80DB-4308-B8B3-ACFAF1354E21}" srcOrd="1" destOrd="0" parTransId="{7ED9D3B7-C482-4EEB-873A-2F77B9D2DFFB}" sibTransId="{617863E8-A2FC-4EF5-ADCB-9B70E92B12AC}"/>
    <dgm:cxn modelId="{D81A4EA2-AE6C-4FC3-A3D9-83C070D0DD1F}" srcId="{78E28379-D94B-4936-8A84-E8CAB75566BD}" destId="{F7E88AE4-1756-4BCA-939A-64C04EEC42DB}" srcOrd="2" destOrd="0" parTransId="{2A36F890-6A3D-4717-A81A-A714B6F436D9}" sibTransId="{9C89DCA3-8946-45B6-BC44-0BBCF613367E}"/>
    <dgm:cxn modelId="{ADC0C4F4-8F9E-4916-9625-AE9DA6D63E61}" type="presOf" srcId="{D6900382-01E2-4C28-BB88-AEACC19E6899}" destId="{70BEA1A9-2D3A-406B-A1F4-D7B58356B6FA}" srcOrd="0" destOrd="0" presId="urn:microsoft.com/office/officeart/2018/2/layout/IconLabelList"/>
    <dgm:cxn modelId="{3ACD82F9-FA4E-4BA8-8EEB-02918A58AA04}" type="presOf" srcId="{78E28379-D94B-4936-8A84-E8CAB75566BD}" destId="{EAC2525C-BE97-4E22-88F0-5D6B6FAF071A}" srcOrd="0" destOrd="0" presId="urn:microsoft.com/office/officeart/2018/2/layout/IconLabelList"/>
    <dgm:cxn modelId="{8345D34B-6388-4971-8918-003C2B7DA96F}" type="presParOf" srcId="{EAC2525C-BE97-4E22-88F0-5D6B6FAF071A}" destId="{05B2DD4C-7748-4A8A-A6F7-C6292905282D}" srcOrd="0" destOrd="0" presId="urn:microsoft.com/office/officeart/2018/2/layout/IconLabelList"/>
    <dgm:cxn modelId="{426991E8-81E3-4DD7-83CD-63386D60CC6D}" type="presParOf" srcId="{05B2DD4C-7748-4A8A-A6F7-C6292905282D}" destId="{518CD70B-DD92-4982-9CE3-19CA13C362D8}" srcOrd="0" destOrd="0" presId="urn:microsoft.com/office/officeart/2018/2/layout/IconLabelList"/>
    <dgm:cxn modelId="{4CD9B706-DBC7-49DE-9D28-1427AC842E17}" type="presParOf" srcId="{05B2DD4C-7748-4A8A-A6F7-C6292905282D}" destId="{5BA39D44-27A5-44BA-AE68-F7C24FC1E423}" srcOrd="1" destOrd="0" presId="urn:microsoft.com/office/officeart/2018/2/layout/IconLabelList"/>
    <dgm:cxn modelId="{E8E09A6D-ACBD-4A2B-BE15-63872F2C39C7}" type="presParOf" srcId="{05B2DD4C-7748-4A8A-A6F7-C6292905282D}" destId="{626B42C0-D2DC-4F58-803B-ACFFF7F89B99}" srcOrd="2" destOrd="0" presId="urn:microsoft.com/office/officeart/2018/2/layout/IconLabelList"/>
    <dgm:cxn modelId="{52AA6E16-B16B-4ADE-9349-10434F8EA3F2}" type="presParOf" srcId="{EAC2525C-BE97-4E22-88F0-5D6B6FAF071A}" destId="{910DAA06-738F-4A8D-A041-25EA593AF9AF}" srcOrd="1" destOrd="0" presId="urn:microsoft.com/office/officeart/2018/2/layout/IconLabelList"/>
    <dgm:cxn modelId="{E5F75308-56A9-4AF2-AF22-4A6FCD855F02}" type="presParOf" srcId="{EAC2525C-BE97-4E22-88F0-5D6B6FAF071A}" destId="{F28E3FED-DD2C-48A8-9AE0-8CB5DB04A2A9}" srcOrd="2" destOrd="0" presId="urn:microsoft.com/office/officeart/2018/2/layout/IconLabelList"/>
    <dgm:cxn modelId="{D7FF3096-EB87-453F-B2CC-5030F36984AC}" type="presParOf" srcId="{F28E3FED-DD2C-48A8-9AE0-8CB5DB04A2A9}" destId="{B31F9F89-E9BD-4381-AFF5-D36C3BF7432B}" srcOrd="0" destOrd="0" presId="urn:microsoft.com/office/officeart/2018/2/layout/IconLabelList"/>
    <dgm:cxn modelId="{9124960A-8F8E-46F6-889A-C79787140991}" type="presParOf" srcId="{F28E3FED-DD2C-48A8-9AE0-8CB5DB04A2A9}" destId="{461DD69F-26C0-48FB-AEFD-B285AFA846F2}" srcOrd="1" destOrd="0" presId="urn:microsoft.com/office/officeart/2018/2/layout/IconLabelList"/>
    <dgm:cxn modelId="{7F571E84-9F2C-45D6-BC50-8CCF95E775DE}" type="presParOf" srcId="{F28E3FED-DD2C-48A8-9AE0-8CB5DB04A2A9}" destId="{5FADEABC-3400-4901-8EF2-F4DD862A1234}" srcOrd="2" destOrd="0" presId="urn:microsoft.com/office/officeart/2018/2/layout/IconLabelList"/>
    <dgm:cxn modelId="{294C3EE7-051D-44FE-A8CB-19B258C6C814}" type="presParOf" srcId="{EAC2525C-BE97-4E22-88F0-5D6B6FAF071A}" destId="{80B26EB4-B74A-4828-9101-3AA5469D1081}" srcOrd="3" destOrd="0" presId="urn:microsoft.com/office/officeart/2018/2/layout/IconLabelList"/>
    <dgm:cxn modelId="{0F1827A5-EC36-4FF8-84AB-A47F8ACB5051}" type="presParOf" srcId="{EAC2525C-BE97-4E22-88F0-5D6B6FAF071A}" destId="{F5CFAFCB-F627-40AF-96B2-6CE177C6B9EB}" srcOrd="4" destOrd="0" presId="urn:microsoft.com/office/officeart/2018/2/layout/IconLabelList"/>
    <dgm:cxn modelId="{7804F493-7127-4188-8C1E-DAFE663EA4D6}" type="presParOf" srcId="{F5CFAFCB-F627-40AF-96B2-6CE177C6B9EB}" destId="{36D34D33-82F5-4A1A-9864-4E3D5D485BFF}" srcOrd="0" destOrd="0" presId="urn:microsoft.com/office/officeart/2018/2/layout/IconLabelList"/>
    <dgm:cxn modelId="{5355A41F-3C99-4F2F-B0B1-58D66805C89F}" type="presParOf" srcId="{F5CFAFCB-F627-40AF-96B2-6CE177C6B9EB}" destId="{5A939B04-7773-49B2-B364-C2D2FC88B06A}" srcOrd="1" destOrd="0" presId="urn:microsoft.com/office/officeart/2018/2/layout/IconLabelList"/>
    <dgm:cxn modelId="{98687745-975E-4917-BE7B-E8E57CB62C35}" type="presParOf" srcId="{F5CFAFCB-F627-40AF-96B2-6CE177C6B9EB}" destId="{9C1A6C1A-EFDC-49D3-9FE3-A55113234CCD}" srcOrd="2" destOrd="0" presId="urn:microsoft.com/office/officeart/2018/2/layout/IconLabelList"/>
    <dgm:cxn modelId="{F432EE36-06B4-4673-95E9-0B6FD5114E01}" type="presParOf" srcId="{EAC2525C-BE97-4E22-88F0-5D6B6FAF071A}" destId="{8D8917AF-F376-4A2E-8456-5B83814E07D5}" srcOrd="5" destOrd="0" presId="urn:microsoft.com/office/officeart/2018/2/layout/IconLabelList"/>
    <dgm:cxn modelId="{FB9C045C-4A5C-4D17-A750-C5D98728AA56}" type="presParOf" srcId="{EAC2525C-BE97-4E22-88F0-5D6B6FAF071A}" destId="{A9E3F417-D17E-4A83-8BB1-F72D3A47E725}" srcOrd="6" destOrd="0" presId="urn:microsoft.com/office/officeart/2018/2/layout/IconLabelList"/>
    <dgm:cxn modelId="{5256EBF3-5D3D-41A1-9ACC-8D1F339F652B}" type="presParOf" srcId="{A9E3F417-D17E-4A83-8BB1-F72D3A47E725}" destId="{3FDBC495-DE7C-4BBE-A5AC-B0F17574FD89}" srcOrd="0" destOrd="0" presId="urn:microsoft.com/office/officeart/2018/2/layout/IconLabelList"/>
    <dgm:cxn modelId="{AC621B61-7509-4B21-BD06-550216081507}" type="presParOf" srcId="{A9E3F417-D17E-4A83-8BB1-F72D3A47E725}" destId="{B2C986B4-FC5A-4E76-B1D3-EAAD14A5C394}" srcOrd="1" destOrd="0" presId="urn:microsoft.com/office/officeart/2018/2/layout/IconLabelList"/>
    <dgm:cxn modelId="{6FDB60AB-F26D-4040-A76C-F3C417418E23}" type="presParOf" srcId="{A9E3F417-D17E-4A83-8BB1-F72D3A47E725}" destId="{70BEA1A9-2D3A-406B-A1F4-D7B58356B6FA}" srcOrd="2" destOrd="0" presId="urn:microsoft.com/office/officeart/2018/2/layout/IconLabelList"/>
    <dgm:cxn modelId="{4A0ADEEA-58E9-462B-9884-758E43D6828A}" type="presParOf" srcId="{EAC2525C-BE97-4E22-88F0-5D6B6FAF071A}" destId="{002A58E6-68C8-4AB8-85C8-AF43A7DB5BAB}" srcOrd="7" destOrd="0" presId="urn:microsoft.com/office/officeart/2018/2/layout/IconLabelList"/>
    <dgm:cxn modelId="{FA571352-25AF-414B-AC58-EFEE214FA578}" type="presParOf" srcId="{EAC2525C-BE97-4E22-88F0-5D6B6FAF071A}" destId="{7DB459D3-3930-4C11-B4E8-37BA966DD21F}" srcOrd="8" destOrd="0" presId="urn:microsoft.com/office/officeart/2018/2/layout/IconLabelList"/>
    <dgm:cxn modelId="{F81C65B2-CCE8-4A7C-88C2-B4B9D7E13104}" type="presParOf" srcId="{7DB459D3-3930-4C11-B4E8-37BA966DD21F}" destId="{A9EF2F56-E591-4BC3-BB01-76183DF3D2FE}" srcOrd="0" destOrd="0" presId="urn:microsoft.com/office/officeart/2018/2/layout/IconLabelList"/>
    <dgm:cxn modelId="{2D5AD30C-EE44-463B-8DB3-DB9BF5F3BE94}" type="presParOf" srcId="{7DB459D3-3930-4C11-B4E8-37BA966DD21F}" destId="{67A8611F-32FF-4BDE-AF22-D9732C929529}" srcOrd="1" destOrd="0" presId="urn:microsoft.com/office/officeart/2018/2/layout/IconLabelList"/>
    <dgm:cxn modelId="{544979BD-53B1-45D8-A896-E94CDA145635}" type="presParOf" srcId="{7DB459D3-3930-4C11-B4E8-37BA966DD21F}" destId="{57E75B4C-2F04-495C-8921-0E5EE1893DE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8CD70B-DD92-4982-9CE3-19CA13C362D8}">
      <dsp:nvSpPr>
        <dsp:cNvPr id="0" name=""/>
        <dsp:cNvSpPr/>
      </dsp:nvSpPr>
      <dsp:spPr>
        <a:xfrm>
          <a:off x="622800" y="970949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B42C0-D2DC-4F58-803B-ACFFF7F89B99}">
      <dsp:nvSpPr>
        <dsp:cNvPr id="0" name=""/>
        <dsp:cNvSpPr/>
      </dsp:nvSpPr>
      <dsp:spPr>
        <a:xfrm>
          <a:off x="127800" y="2142888"/>
          <a:ext cx="1800000" cy="123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u="sng" kern="1200"/>
            <a:t>Main Functions to Solve the Problem</a:t>
          </a:r>
          <a:endParaRPr lang="en-US" sz="1100" kern="1200"/>
        </a:p>
      </dsp:txBody>
      <dsp:txXfrm>
        <a:off x="127800" y="2142888"/>
        <a:ext cx="1800000" cy="1237500"/>
      </dsp:txXfrm>
    </dsp:sp>
    <dsp:sp modelId="{B31F9F89-E9BD-4381-AFF5-D36C3BF7432B}">
      <dsp:nvSpPr>
        <dsp:cNvPr id="0" name=""/>
        <dsp:cNvSpPr/>
      </dsp:nvSpPr>
      <dsp:spPr>
        <a:xfrm>
          <a:off x="2737800" y="970949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DEABC-3400-4901-8EF2-F4DD862A1234}">
      <dsp:nvSpPr>
        <dsp:cNvPr id="0" name=""/>
        <dsp:cNvSpPr/>
      </dsp:nvSpPr>
      <dsp:spPr>
        <a:xfrm>
          <a:off x="2242800" y="2142888"/>
          <a:ext cx="1800000" cy="123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Mentorship Management System: This allows students to search for and connect with specific alumni mentors based on their career interests, bridging the "network gap" through formal request and acceptance workflows.</a:t>
          </a:r>
          <a:endParaRPr lang="en-US" sz="1100" kern="1200"/>
        </a:p>
      </dsp:txBody>
      <dsp:txXfrm>
        <a:off x="2242800" y="2142888"/>
        <a:ext cx="1800000" cy="1237500"/>
      </dsp:txXfrm>
    </dsp:sp>
    <dsp:sp modelId="{36D34D33-82F5-4A1A-9864-4E3D5D485BFF}">
      <dsp:nvSpPr>
        <dsp:cNvPr id="0" name=""/>
        <dsp:cNvSpPr/>
      </dsp:nvSpPr>
      <dsp:spPr>
        <a:xfrm>
          <a:off x="4852800" y="970949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A6C1A-EFDC-49D3-9FE3-A55113234CCD}">
      <dsp:nvSpPr>
        <dsp:cNvPr id="0" name=""/>
        <dsp:cNvSpPr/>
      </dsp:nvSpPr>
      <dsp:spPr>
        <a:xfrm>
          <a:off x="4357800" y="2142888"/>
          <a:ext cx="1800000" cy="123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Integrated Messaging Platform: A secure, private communication tool that enables real-time guidance and professional dialogue between mentors and students once a connection is established.</a:t>
          </a:r>
          <a:endParaRPr lang="en-US" sz="1100" kern="1200"/>
        </a:p>
      </dsp:txBody>
      <dsp:txXfrm>
        <a:off x="4357800" y="2142888"/>
        <a:ext cx="1800000" cy="1237500"/>
      </dsp:txXfrm>
    </dsp:sp>
    <dsp:sp modelId="{3FDBC495-DE7C-4BBE-A5AC-B0F17574FD89}">
      <dsp:nvSpPr>
        <dsp:cNvPr id="0" name=""/>
        <dsp:cNvSpPr/>
      </dsp:nvSpPr>
      <dsp:spPr>
        <a:xfrm>
          <a:off x="6967800" y="970949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EA1A9-2D3A-406B-A1F4-D7B58356B6FA}">
      <dsp:nvSpPr>
        <dsp:cNvPr id="0" name=""/>
        <dsp:cNvSpPr/>
      </dsp:nvSpPr>
      <dsp:spPr>
        <a:xfrm>
          <a:off x="6472800" y="2142888"/>
          <a:ext cx="1800000" cy="123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Opportunity &amp; Job Board: A centralized hub where alumni can post internships and job openings specifically for Nyumba students, ensuring that users have direct access to "hidden" career paths.</a:t>
          </a:r>
          <a:endParaRPr lang="en-US" sz="1100" kern="1200"/>
        </a:p>
      </dsp:txBody>
      <dsp:txXfrm>
        <a:off x="6472800" y="2142888"/>
        <a:ext cx="1800000" cy="1237500"/>
      </dsp:txXfrm>
    </dsp:sp>
    <dsp:sp modelId="{A9EF2F56-E591-4BC3-BB01-76183DF3D2FE}">
      <dsp:nvSpPr>
        <dsp:cNvPr id="0" name=""/>
        <dsp:cNvSpPr/>
      </dsp:nvSpPr>
      <dsp:spPr>
        <a:xfrm>
          <a:off x="9082800" y="970949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75B4C-2F04-495C-8921-0E5EE1893DED}">
      <dsp:nvSpPr>
        <dsp:cNvPr id="0" name=""/>
        <dsp:cNvSpPr/>
      </dsp:nvSpPr>
      <dsp:spPr>
        <a:xfrm>
          <a:off x="8587800" y="2142888"/>
          <a:ext cx="1800000" cy="123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Resource &amp; CV Library: A digital repository where students can access career guides and manage their CVs, allowing for professional preparation and seamless application to posted opportunities.</a:t>
          </a:r>
          <a:endParaRPr lang="en-US" sz="1100" kern="1200"/>
        </a:p>
      </dsp:txBody>
      <dsp:txXfrm>
        <a:off x="8587800" y="2142888"/>
        <a:ext cx="1800000" cy="123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523B-7879-413D-B974-4EA8BAD87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5677C-C4F4-4003-8081-2CA323FE8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BDFB6-B844-410B-871F-A9547EC7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5EE92-8782-4771-BBA2-385EC3B1C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C773E-0593-4E3E-A921-36876FFE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C9C71CC2-94AB-45BF-B83B-6D0466401F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011" y="4160648"/>
            <a:ext cx="2337977" cy="209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7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FE9E-2EAE-47F7-9BCF-8CE66189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A83C7-1BAA-4632-825D-9DCD8B8E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E41AA-741F-4EC6-A497-D1DEB101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6A5DD-EB46-4E38-9B93-2ED8D93D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B6A07-A0C0-4565-90CD-83F9F70E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C30AFC61-666A-4D08-AE3C-1B79355EEE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905" y="6176962"/>
            <a:ext cx="76036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0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1F54-45A7-436C-80E0-91459F5E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56C5C-9625-46C6-8DA5-CF58A2EE5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031E8-BC8F-4753-ADB3-A0C481673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9F8A-1350-48EF-BD37-666B5D1E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9524A-BFD0-4E76-8617-E50C51C3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5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AE11-2AFB-47A4-890C-4991DBBD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517F6-26BF-477B-80F4-8E1AF66459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06272-9F06-4612-8B6C-5BF50CEC5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1C4EC-9929-4DCE-8A0D-128E9BE0D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DA14C-6B80-472E-AE8A-5D71B925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70449-5253-4B20-A1CC-AC367733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88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58E8-F72B-4C5B-B31E-C3907011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8A5-4B13-4A06-872D-F1A323262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C7779-F8D2-4F64-8095-FDFC56CDB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3D80E-A482-4598-B0B0-6FEE61ED8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45DEA-EBE2-463A-92B3-156809288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2383A-BEA2-439D-9016-2DE50621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DF060A-F869-4CFC-BEC9-436E45FD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742A3-A4B8-4F34-A226-2F317C64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12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7E50-68E4-4AEB-AD2D-D5ED555A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69AFB-C8BF-4C66-A4EA-4147AED4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05508-0742-43E9-BA29-7E405D3D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C142E-3D1A-427B-BA6B-7A453D4E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17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6004DB-86FF-4B67-B3C9-DC35E0EC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352AE-C1A3-4B2F-8F0B-8EABFF9C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6BA80-BCAF-48E5-8D07-8A059E560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0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7D035-D8A0-4FC2-8F79-526FBF59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F7B67-0FB4-4620-BBDF-658857E7B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D8C51-DF6F-46A4-9232-C95714472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AC53C-DB51-4743-9D99-B8CD2B25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DBC3D-49AC-4011-B820-F3F7EA51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B0DDC-539E-4D00-84DA-89041EC6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BBC2-B05A-46ED-A241-BA9E3E880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BAD30-E81E-48D0-B564-9BBAA4409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F4405-7CFA-4985-B5B7-6189705A0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C5395-E644-4646-8327-ED7327EE5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660FA-4807-411B-BA30-E201D8286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283C1-EF9F-4823-A56C-8799FE4D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0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5838-557A-4543-B7AE-4E7E62989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BF8E1-259C-46CA-B233-0F947B7C7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DB938-4651-49A6-AD85-87C5B7F2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E878-AAF8-481F-9EB6-7B3F33BB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2BD8B-7F3E-4F5D-A953-76446966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2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DDCDF4-4D7A-4375-A309-354D24F5A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73EB7-28A0-4361-9CDB-35C28ADE8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F066A-E6EE-4F7B-8FC5-BE9B2CAB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6381A-C118-4E62-BF37-EA0EBD62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CEB07-AD06-45B6-9855-C8B2A45E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6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7978F9-BCFE-4189-A0A8-446CC99C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1A654-BA2D-4FB0-851C-76683F8C5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C5A9-AB1C-4D1E-873E-AB223D54F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1CC1C-E4D1-4E15-90A8-C95BF9B87F7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9A757-4B5D-46F4-872F-32AE4B103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CE750-2D47-4D77-93E0-297723B38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F43C55-1C86-4C11-A83E-15C62D47465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56"/>
            <a:ext cx="1219200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9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9CD8-14E7-4A95-99DB-B02DBD937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BENJAMIN MUTIE CHARLES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35F16-4A24-4AED-8DB2-DAA4BCFBE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Web Tech Summer 2025 Final Exams</a:t>
            </a:r>
          </a:p>
        </p:txBody>
      </p:sp>
    </p:spTree>
    <p:extLst>
      <p:ext uri="{BB962C8B-B14F-4D97-AF65-F5344CB8AC3E}">
        <p14:creationId xmlns:p14="http://schemas.microsoft.com/office/powerpoint/2010/main" val="1741095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F5CAFA-01D7-4C9A-B6E2-3E744EA7D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 fontScale="90000"/>
          </a:bodyPr>
          <a:lstStyle/>
          <a:p>
            <a:r>
              <a:rPr lang="en-US" sz="4200" i="1" dirty="0"/>
              <a:t>Benjamin</a:t>
            </a:r>
            <a:r>
              <a:rPr lang="en-US" sz="4200" i="1" dirty="0">
                <a:effectLst/>
              </a:rPr>
              <a:t> is developing a data-powered website to help </a:t>
            </a:r>
            <a:r>
              <a:rPr lang="en-US" sz="4200" b="1" i="1" dirty="0">
                <a:effectLst/>
              </a:rPr>
              <a:t>students and alumni from </a:t>
            </a:r>
            <a:r>
              <a:rPr lang="en-US" sz="4200" b="1" i="1" dirty="0" err="1">
                <a:effectLst/>
              </a:rPr>
              <a:t>Nyumba</a:t>
            </a:r>
            <a:r>
              <a:rPr lang="en-US" sz="4200" b="1" i="1" dirty="0">
                <a:effectLst/>
              </a:rPr>
              <a:t> Ya Watoto(an orphanage in Kenya) </a:t>
            </a:r>
            <a:r>
              <a:rPr lang="en-US" sz="4200" i="1" dirty="0">
                <a:effectLst/>
              </a:rPr>
              <a:t>solve</a:t>
            </a:r>
            <a:r>
              <a:rPr lang="en-US" sz="4200" b="1" i="1" dirty="0">
                <a:effectLst/>
              </a:rPr>
              <a:t> career gap problems in the students through mentorship from alumni.</a:t>
            </a:r>
            <a:br>
              <a:rPr lang="en-US" sz="4200" i="1" dirty="0">
                <a:effectLst/>
              </a:rPr>
            </a:b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223872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3;p26">
            <a:extLst>
              <a:ext uri="{FF2B5EF4-FFF2-40B4-BE49-F238E27FC236}">
                <a16:creationId xmlns:a16="http://schemas.microsoft.com/office/drawing/2014/main" id="{57EC8ECB-684B-4A65-B563-F2A77E7CD0CA}"/>
              </a:ext>
            </a:extLst>
          </p:cNvPr>
          <p:cNvSpPr/>
          <p:nvPr/>
        </p:nvSpPr>
        <p:spPr>
          <a:xfrm>
            <a:off x="5356888" y="4159076"/>
            <a:ext cx="3494100" cy="19464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24;p26">
            <a:extLst>
              <a:ext uri="{FF2B5EF4-FFF2-40B4-BE49-F238E27FC236}">
                <a16:creationId xmlns:a16="http://schemas.microsoft.com/office/drawing/2014/main" id="{45854F39-C3A4-489F-B694-859EFBCDAE4E}"/>
              </a:ext>
            </a:extLst>
          </p:cNvPr>
          <p:cNvSpPr txBox="1"/>
          <p:nvPr/>
        </p:nvSpPr>
        <p:spPr>
          <a:xfrm>
            <a:off x="5386300" y="4233075"/>
            <a:ext cx="3378900" cy="1561500"/>
          </a:xfrm>
          <a:prstGeom prst="rect">
            <a:avLst/>
          </a:prstGeom>
          <a:solidFill>
            <a:schemeClr val="lt1">
              <a:alpha val="7176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PAYOFF: 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simple drawn screen that is illustrative of something the website shows that helps solve the problem.  It is likely a report or some results of data entered by the participants.  </a:t>
            </a:r>
            <a:r>
              <a:rPr lang="en-US" sz="12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most important square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25;p26">
            <a:extLst>
              <a:ext uri="{FF2B5EF4-FFF2-40B4-BE49-F238E27FC236}">
                <a16:creationId xmlns:a16="http://schemas.microsoft.com/office/drawing/2014/main" id="{2EB20A92-289A-4F1B-83EA-557EBD087A84}"/>
              </a:ext>
            </a:extLst>
          </p:cNvPr>
          <p:cNvSpPr/>
          <p:nvPr/>
        </p:nvSpPr>
        <p:spPr>
          <a:xfrm>
            <a:off x="613950" y="42976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6;p26">
            <a:extLst>
              <a:ext uri="{FF2B5EF4-FFF2-40B4-BE49-F238E27FC236}">
                <a16:creationId xmlns:a16="http://schemas.microsoft.com/office/drawing/2014/main" id="{B6422191-D8D6-4EF8-AD22-99BAE3525359}"/>
              </a:ext>
            </a:extLst>
          </p:cNvPr>
          <p:cNvSpPr/>
          <p:nvPr/>
        </p:nvSpPr>
        <p:spPr>
          <a:xfrm>
            <a:off x="2985425" y="42975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27;p26">
            <a:extLst>
              <a:ext uri="{FF2B5EF4-FFF2-40B4-BE49-F238E27FC236}">
                <a16:creationId xmlns:a16="http://schemas.microsoft.com/office/drawing/2014/main" id="{ECAEDEC5-3BA7-4814-897E-199FE3D53B02}"/>
              </a:ext>
            </a:extLst>
          </p:cNvPr>
          <p:cNvSpPr/>
          <p:nvPr/>
        </p:nvSpPr>
        <p:spPr>
          <a:xfrm>
            <a:off x="8875950" y="42975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28;p26">
            <a:extLst>
              <a:ext uri="{FF2B5EF4-FFF2-40B4-BE49-F238E27FC236}">
                <a16:creationId xmlns:a16="http://schemas.microsoft.com/office/drawing/2014/main" id="{B0376552-4BDD-431F-A63E-87A711EAE56C}"/>
              </a:ext>
            </a:extLst>
          </p:cNvPr>
          <p:cNvSpPr txBox="1">
            <a:spLocks/>
          </p:cNvSpPr>
          <p:nvPr/>
        </p:nvSpPr>
        <p:spPr>
          <a:xfrm>
            <a:off x="0" y="546481"/>
            <a:ext cx="11360150" cy="8524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Nyumba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Connect</a:t>
            </a:r>
          </a:p>
        </p:txBody>
      </p:sp>
      <p:sp>
        <p:nvSpPr>
          <p:cNvPr id="17" name="Google Shape;129;p26">
            <a:extLst>
              <a:ext uri="{FF2B5EF4-FFF2-40B4-BE49-F238E27FC236}">
                <a16:creationId xmlns:a16="http://schemas.microsoft.com/office/drawing/2014/main" id="{70D74D4C-F466-4D68-B611-FB3F56811959}"/>
              </a:ext>
            </a:extLst>
          </p:cNvPr>
          <p:cNvSpPr/>
          <p:nvPr/>
        </p:nvSpPr>
        <p:spPr>
          <a:xfrm>
            <a:off x="613950" y="1776550"/>
            <a:ext cx="2246700" cy="2351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ddd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30;p26">
            <a:extLst>
              <a:ext uri="{FF2B5EF4-FFF2-40B4-BE49-F238E27FC236}">
                <a16:creationId xmlns:a16="http://schemas.microsoft.com/office/drawing/2014/main" id="{89D1F58D-E1F6-4C92-A957-8FDF219B4EC6}"/>
              </a:ext>
            </a:extLst>
          </p:cNvPr>
          <p:cNvSpPr/>
          <p:nvPr/>
        </p:nvSpPr>
        <p:spPr>
          <a:xfrm>
            <a:off x="5342700" y="836025"/>
            <a:ext cx="3378900" cy="3184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31;p26">
            <a:extLst>
              <a:ext uri="{FF2B5EF4-FFF2-40B4-BE49-F238E27FC236}">
                <a16:creationId xmlns:a16="http://schemas.microsoft.com/office/drawing/2014/main" id="{72D1F283-2A04-4B78-8A09-3A40D4BBD068}"/>
              </a:ext>
            </a:extLst>
          </p:cNvPr>
          <p:cNvSpPr/>
          <p:nvPr/>
        </p:nvSpPr>
        <p:spPr>
          <a:xfrm>
            <a:off x="2978325" y="1776550"/>
            <a:ext cx="2246700" cy="2351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2;p26">
            <a:extLst>
              <a:ext uri="{FF2B5EF4-FFF2-40B4-BE49-F238E27FC236}">
                <a16:creationId xmlns:a16="http://schemas.microsoft.com/office/drawing/2014/main" id="{362BD806-9FF3-4E4F-99B8-E69451D993A2}"/>
              </a:ext>
            </a:extLst>
          </p:cNvPr>
          <p:cNvSpPr/>
          <p:nvPr/>
        </p:nvSpPr>
        <p:spPr>
          <a:xfrm>
            <a:off x="8839280" y="1663433"/>
            <a:ext cx="2317200" cy="2372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33;p26">
            <a:extLst>
              <a:ext uri="{FF2B5EF4-FFF2-40B4-BE49-F238E27FC236}">
                <a16:creationId xmlns:a16="http://schemas.microsoft.com/office/drawing/2014/main" id="{3F4E89E7-ABA2-466A-B1F8-0CA4BEBEDA3D}"/>
              </a:ext>
            </a:extLst>
          </p:cNvPr>
          <p:cNvSpPr txBox="1"/>
          <p:nvPr/>
        </p:nvSpPr>
        <p:spPr>
          <a:xfrm>
            <a:off x="690550" y="4373101"/>
            <a:ext cx="2143800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(s) 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are the people involved in using the website and what are their background</a:t>
            </a: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34;p26">
            <a:extLst>
              <a:ext uri="{FF2B5EF4-FFF2-40B4-BE49-F238E27FC236}">
                <a16:creationId xmlns:a16="http://schemas.microsoft.com/office/drawing/2014/main" id="{7FCFFFAA-E5F2-46D8-8DAA-857512D7D290}"/>
              </a:ext>
            </a:extLst>
          </p:cNvPr>
          <p:cNvSpPr txBox="1"/>
          <p:nvPr/>
        </p:nvSpPr>
        <p:spPr>
          <a:xfrm>
            <a:off x="3015075" y="4297675"/>
            <a:ext cx="2144100" cy="16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PROBLEM:</a:t>
            </a:r>
            <a:r>
              <a:rPr lang="en-US" sz="12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problem the website will solve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35;p26">
            <a:extLst>
              <a:ext uri="{FF2B5EF4-FFF2-40B4-BE49-F238E27FC236}">
                <a16:creationId xmlns:a16="http://schemas.microsoft.com/office/drawing/2014/main" id="{663C807B-3501-4A1A-B45B-BCE89ED53D86}"/>
              </a:ext>
            </a:extLst>
          </p:cNvPr>
          <p:cNvSpPr txBox="1"/>
          <p:nvPr/>
        </p:nvSpPr>
        <p:spPr>
          <a:xfrm>
            <a:off x="8875975" y="4530330"/>
            <a:ext cx="2143800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FINISH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Why are the users better off with the website than before.</a:t>
            </a: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DCEA4A-DE49-D501-CFF7-7793DA4EAF8C}"/>
              </a:ext>
            </a:extLst>
          </p:cNvPr>
          <p:cNvSpPr txBox="1"/>
          <p:nvPr/>
        </p:nvSpPr>
        <p:spPr>
          <a:xfrm>
            <a:off x="767752" y="1880559"/>
            <a:ext cx="1936398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1.Students(Mentees)- Young people currently at </a:t>
            </a:r>
            <a:r>
              <a:rPr lang="en-GB" sz="900" dirty="0" err="1"/>
              <a:t>Nyumba</a:t>
            </a:r>
            <a:r>
              <a:rPr lang="en-GB" sz="900" dirty="0"/>
              <a:t> </a:t>
            </a:r>
            <a:r>
              <a:rPr lang="en-GB" sz="900" dirty="0" err="1"/>
              <a:t>ya</a:t>
            </a:r>
            <a:r>
              <a:rPr lang="en-GB" sz="900" dirty="0"/>
              <a:t> Watoto.. They are looking for guidance on "what comes next" after school.</a:t>
            </a:r>
          </a:p>
          <a:p>
            <a:r>
              <a:rPr lang="en-GB" sz="900" dirty="0"/>
              <a:t>2. The Alumni (Mentors): Former residents of </a:t>
            </a:r>
            <a:r>
              <a:rPr lang="en-GB" sz="900" dirty="0" err="1"/>
              <a:t>Nyumba</a:t>
            </a:r>
            <a:r>
              <a:rPr lang="en-GB" sz="900" dirty="0"/>
              <a:t> </a:t>
            </a:r>
            <a:r>
              <a:rPr lang="en-GB" sz="900" dirty="0" err="1"/>
              <a:t>ya</a:t>
            </a:r>
            <a:r>
              <a:rPr lang="en-GB" sz="900" dirty="0"/>
              <a:t> Watoto who have successfully transitioned into adulthood and professional life.. They provide the "social proof" that success is possible.</a:t>
            </a:r>
          </a:p>
          <a:p>
            <a:r>
              <a:rPr lang="en-GB" sz="900" dirty="0"/>
              <a:t>The Administrators: Staff members who oversee the platform, approve opportunities, and ensure the environment remains safe and productive for the children.</a:t>
            </a:r>
          </a:p>
          <a:p>
            <a:br>
              <a:rPr lang="en-GB" sz="900" dirty="0"/>
            </a:br>
            <a:r>
              <a:rPr lang="en-GB" sz="900" dirty="0"/>
              <a:t>. </a:t>
            </a:r>
            <a:endParaRPr lang="en-GH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02CE6-15AD-BC55-1F63-734E5AB30D9E}"/>
              </a:ext>
            </a:extLst>
          </p:cNvPr>
          <p:cNvSpPr txBox="1"/>
          <p:nvPr/>
        </p:nvSpPr>
        <p:spPr>
          <a:xfrm>
            <a:off x="3096883" y="1949571"/>
            <a:ext cx="20622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The "Network Gap." Children in institutional care often lack the organic professional networks (the "who you know") that children in traditional families have.</a:t>
            </a:r>
          </a:p>
          <a:p>
            <a:pPr fontAlgn="base"/>
            <a:r>
              <a:rPr lang="en-GB" sz="900" dirty="0"/>
              <a:t>Isolation: Without a bridge, students may not know how to apply their skills in the real world.</a:t>
            </a:r>
          </a:p>
          <a:p>
            <a:pPr fontAlgn="base"/>
            <a:r>
              <a:rPr lang="en-GB" sz="900" dirty="0"/>
              <a:t>Fragmented Information: Opportunities (jobs/internships) and resources are often scattered; this platform centralizes them.</a:t>
            </a:r>
          </a:p>
        </p:txBody>
      </p:sp>
      <p:pic>
        <p:nvPicPr>
          <p:cNvPr id="12" name="Picture 11" descr="A black and white cartoon of a person at a desk and a cellphone&#10;&#10;AI-generated content may be incorrect.">
            <a:extLst>
              <a:ext uri="{FF2B5EF4-FFF2-40B4-BE49-F238E27FC236}">
                <a16:creationId xmlns:a16="http://schemas.microsoft.com/office/drawing/2014/main" id="{96A1EFE7-A2EE-C342-E673-24129A38F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536" y="814306"/>
            <a:ext cx="3473904" cy="32215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4A4D93-37C1-FA9E-EE1F-20923610FF5D}"/>
              </a:ext>
            </a:extLst>
          </p:cNvPr>
          <p:cNvSpPr txBox="1"/>
          <p:nvPr/>
        </p:nvSpPr>
        <p:spPr>
          <a:xfrm>
            <a:off x="8909780" y="1660711"/>
            <a:ext cx="221287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From "Searching" to "Belonging": Instead of feeling like they are entering the job market alone, students now have a dedicated community that </a:t>
            </a:r>
            <a:r>
              <a:rPr lang="en-GB" sz="1400" i="1" dirty="0"/>
              <a:t>wants</a:t>
            </a:r>
            <a:r>
              <a:rPr lang="en-GB" sz="1400" dirty="0"/>
              <a:t> them to succeed because they are part of the same "family."</a:t>
            </a:r>
          </a:p>
          <a:p>
            <a:br>
              <a:rPr lang="en-GB" sz="1400" dirty="0"/>
            </a:br>
            <a:endParaRPr lang="en-GH" sz="1400" dirty="0"/>
          </a:p>
        </p:txBody>
      </p:sp>
    </p:spTree>
    <p:extLst>
      <p:ext uri="{BB962C8B-B14F-4D97-AF65-F5344CB8AC3E}">
        <p14:creationId xmlns:p14="http://schemas.microsoft.com/office/powerpoint/2010/main" val="307924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AAEF-FFFC-4D02-8E01-39733404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/ Customer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2002-6CD1-4A60-B873-4164CDE4C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1800" dirty="0" err="1"/>
              <a:t>Nyumba</a:t>
            </a:r>
            <a:r>
              <a:rPr lang="en-GB" sz="1800" dirty="0"/>
              <a:t> </a:t>
            </a:r>
            <a:r>
              <a:rPr lang="en-GB" sz="1800" dirty="0" err="1"/>
              <a:t>ya</a:t>
            </a:r>
            <a:r>
              <a:rPr lang="en-GB" sz="1800" dirty="0"/>
              <a:t> Watoto is a children’s home dedicated to the care and development of children. The </a:t>
            </a:r>
            <a:r>
              <a:rPr lang="en-GB" sz="1800" dirty="0" err="1"/>
              <a:t>Nyumba</a:t>
            </a:r>
            <a:r>
              <a:rPr lang="en-GB" sz="1800" dirty="0"/>
              <a:t> Connect website serves as a comprehensive mentorship and career development platform that bridges the gap between current children at the orphanage and the alumni network. Its purpose is to foster community growth by providing a secure environment for career guidance, sharing professional opportunities, and offering well-being support through shared lived experiences. Learn more about the orphanage here fondazionechincherini.it</a:t>
            </a:r>
          </a:p>
          <a:p>
            <a:pPr marL="0" indent="0">
              <a:buNone/>
            </a:pPr>
            <a:r>
              <a:rPr lang="en-GB" sz="1800" dirty="0"/>
              <a:t>User Roles:</a:t>
            </a:r>
            <a:br>
              <a:rPr lang="en-GB" sz="1800" dirty="0"/>
            </a:br>
            <a:r>
              <a:rPr lang="en-GB" sz="1800" dirty="0"/>
              <a:t>The website utilizes a role-based authentication system to manage access and functionality:</a:t>
            </a:r>
          </a:p>
          <a:p>
            <a:pPr fontAlgn="base"/>
            <a:r>
              <a:rPr lang="en-GB" sz="1800" dirty="0"/>
              <a:t>Students: They browse the alumni gallery to request mentorship, message mentors for guidance, and apply for posted career opportunities using their uploaded CVs.</a:t>
            </a:r>
          </a:p>
          <a:p>
            <a:pPr fontAlgn="base"/>
            <a:r>
              <a:rPr lang="en-GB" sz="1800" dirty="0"/>
              <a:t>Alumni: They serve as mentors by responding to student requests, sharing career advice through real-time messaging, and posting job or internship opportunities.</a:t>
            </a:r>
          </a:p>
          <a:p>
            <a:pPr fontAlgn="base"/>
            <a:r>
              <a:rPr lang="en-GB" sz="1800" dirty="0"/>
              <a:t>Admins: They manage the platform by overseeing user accounts, approving or rejecting opportunity postings, and managing the library of career resources.</a:t>
            </a:r>
          </a:p>
          <a:p>
            <a:pPr marL="0" indent="0">
              <a:buNone/>
            </a:pPr>
            <a:br>
              <a:rPr lang="en-GB" sz="1800" dirty="0"/>
            </a:br>
            <a:br>
              <a:rPr lang="en-GB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1349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30D1-743D-4000-9929-9878F282E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Main Functions of the Website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058274A-937D-BD60-ECB3-198032BD1A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32948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737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FA18-7093-430E-BD23-BCEBC00B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FB736-92A0-43AE-AB02-51FB31B76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Image of 3 tier architecture and how they connect, programing languages for each tier and why,  other technologies (frameworks,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C30A31-A6F4-4BB2-B7BF-86CE782B7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370256"/>
              </p:ext>
            </p:extLst>
          </p:nvPr>
        </p:nvGraphicFramePr>
        <p:xfrm>
          <a:off x="5216525" y="987425"/>
          <a:ext cx="6105527" cy="5109510"/>
        </p:xfrm>
        <a:graphic>
          <a:graphicData uri="http://schemas.openxmlformats.org/drawingml/2006/table">
            <a:tbl>
              <a:tblPr/>
              <a:tblGrid>
                <a:gridCol w="2173523">
                  <a:extLst>
                    <a:ext uri="{9D8B030D-6E8A-4147-A177-3AD203B41FA5}">
                      <a16:colId xmlns:a16="http://schemas.microsoft.com/office/drawing/2014/main" val="2975122146"/>
                    </a:ext>
                  </a:extLst>
                </a:gridCol>
                <a:gridCol w="1635095">
                  <a:extLst>
                    <a:ext uri="{9D8B030D-6E8A-4147-A177-3AD203B41FA5}">
                      <a16:colId xmlns:a16="http://schemas.microsoft.com/office/drawing/2014/main" val="3930029343"/>
                    </a:ext>
                  </a:extLst>
                </a:gridCol>
                <a:gridCol w="2296909">
                  <a:extLst>
                    <a:ext uri="{9D8B030D-6E8A-4147-A177-3AD203B41FA5}">
                      <a16:colId xmlns:a16="http://schemas.microsoft.com/office/drawing/2014/main" val="3200929212"/>
                    </a:ext>
                  </a:extLst>
                </a:gridCol>
              </a:tblGrid>
              <a:tr h="13080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1" i="0" u="none" strike="noStrike">
                          <a:effectLst/>
                          <a:latin typeface="Arial" panose="020B0604020202020204" pitchFamily="34" charset="0"/>
                        </a:rPr>
                        <a:t>Presentation Tier</a:t>
                      </a:r>
                      <a:r>
                        <a:rPr lang="en-GB" sz="1600" b="0" i="0" u="none" strike="noStrike">
                          <a:effectLst/>
                          <a:latin typeface="Arial" panose="020B0604020202020204" pitchFamily="34" charset="0"/>
                        </a:rPr>
                        <a:t> (Frontend)</a:t>
                      </a:r>
                    </a:p>
                  </a:txBody>
                  <a:tcPr marL="77570" marR="77570" marT="38785" marB="387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1" i="0" u="none" strike="noStrike">
                          <a:effectLst/>
                          <a:latin typeface="Arial" panose="020B0604020202020204" pitchFamily="34" charset="0"/>
                        </a:rPr>
                        <a:t>HTML5, CSS3, JavaScript, Bootstrap 5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570" marR="77570" marT="38785" marB="387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effectLst/>
                          <a:latin typeface="Arial" panose="020B0604020202020204" pitchFamily="34" charset="0"/>
                        </a:rPr>
                        <a:t>Provides a responsive, mobile-friendly interface so students can access mentorship resources from any device.</a:t>
                      </a:r>
                    </a:p>
                  </a:txBody>
                  <a:tcPr marL="77570" marR="77570" marT="38785" marB="387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47884"/>
                  </a:ext>
                </a:extLst>
              </a:tr>
              <a:tr h="17827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1" i="0" u="none" strike="noStrike">
                          <a:effectLst/>
                          <a:latin typeface="Arial" panose="020B0604020202020204" pitchFamily="34" charset="0"/>
                        </a:rPr>
                        <a:t>Application Tier</a:t>
                      </a:r>
                      <a:r>
                        <a:rPr lang="en-GB" sz="1600" b="0" i="0" u="none" strike="noStrike">
                          <a:effectLst/>
                          <a:latin typeface="Arial" panose="020B0604020202020204" pitchFamily="34" charset="0"/>
                        </a:rPr>
                        <a:t> (Backend)</a:t>
                      </a:r>
                    </a:p>
                  </a:txBody>
                  <a:tcPr marL="77570" marR="77570" marT="38785" marB="387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1" i="0" u="none" strike="noStrike">
                          <a:effectLst/>
                          <a:latin typeface="Arial" panose="020B0604020202020204" pitchFamily="34" charset="0"/>
                        </a:rPr>
                        <a:t>PHP 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570" marR="77570" marT="38785" marB="387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effectLst/>
                          <a:latin typeface="Arial" panose="020B0604020202020204" pitchFamily="34" charset="0"/>
                        </a:rPr>
                        <a:t>A reliable server-side language that handles the core business logic, such as processing mentorship requests and managing messaging sessions.</a:t>
                      </a:r>
                    </a:p>
                  </a:txBody>
                  <a:tcPr marL="77570" marR="77570" marT="38785" marB="387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515685"/>
                  </a:ext>
                </a:extLst>
              </a:tr>
              <a:tr h="17827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1" i="0" u="none" strike="noStrike">
                          <a:effectLst/>
                          <a:latin typeface="Arial" panose="020B0604020202020204" pitchFamily="34" charset="0"/>
                        </a:rPr>
                        <a:t>Data Tier</a:t>
                      </a:r>
                      <a:r>
                        <a:rPr lang="en-GB" sz="1600" b="0" i="0" u="none" strike="noStrike">
                          <a:effectLst/>
                          <a:latin typeface="Arial" panose="020B0604020202020204" pitchFamily="34" charset="0"/>
                        </a:rPr>
                        <a:t> (Database)</a:t>
                      </a:r>
                    </a:p>
                  </a:txBody>
                  <a:tcPr marL="77570" marR="77570" marT="38785" marB="387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1" i="0" u="none" strike="noStrike">
                          <a:effectLst/>
                          <a:latin typeface="Arial" panose="020B0604020202020204" pitchFamily="34" charset="0"/>
                        </a:rPr>
                        <a:t>MySQL 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570" marR="77570" marT="38785" marB="387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effectLst/>
                          <a:latin typeface="Arial" panose="020B0604020202020204" pitchFamily="34" charset="0"/>
                        </a:rPr>
                        <a:t>A relational database management system (RDBMS) used to securely store complex relationships between users, messages, and job applications.</a:t>
                      </a:r>
                    </a:p>
                  </a:txBody>
                  <a:tcPr marL="77570" marR="77570" marT="38785" marB="387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503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009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923D41"/>
      </a:dk2>
      <a:lt2>
        <a:srgbClr val="AAC3EC"/>
      </a:lt2>
      <a:accent1>
        <a:srgbClr val="4472C4"/>
      </a:accent1>
      <a:accent2>
        <a:srgbClr val="C56728"/>
      </a:accent2>
      <a:accent3>
        <a:srgbClr val="A5A5A5"/>
      </a:accent3>
      <a:accent4>
        <a:srgbClr val="FFC000"/>
      </a:accent4>
      <a:accent5>
        <a:srgbClr val="5B9BD5"/>
      </a:accent5>
      <a:accent6>
        <a:srgbClr val="C09B74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43679034-79EA-4C15-9A71-1EF1E1074EAF}" vid="{7FD254AA-BBEA-4868-8697-6021C48FEDD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762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BENJAMIN MUTIE CHARLES</vt:lpstr>
      <vt:lpstr>Benjamin is developing a data-powered website to help students and alumni from Nyumba Ya Watoto(an orphanage in Kenya) solve career gap problems in the students through mentorship from alumni. </vt:lpstr>
      <vt:lpstr>PowerPoint Presentation</vt:lpstr>
      <vt:lpstr>User / Customer</vt:lpstr>
      <vt:lpstr>Main Functions of the Website</vt:lpstr>
      <vt:lpstr>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&lt;Letter&gt;</dc:title>
  <dc:creator>Todd Warren</dc:creator>
  <cp:lastModifiedBy>Benjamin Mutie Charles</cp:lastModifiedBy>
  <cp:revision>22</cp:revision>
  <dcterms:created xsi:type="dcterms:W3CDTF">2020-09-23T20:07:55Z</dcterms:created>
  <dcterms:modified xsi:type="dcterms:W3CDTF">2025-12-18T23:02:15Z</dcterms:modified>
</cp:coreProperties>
</file>